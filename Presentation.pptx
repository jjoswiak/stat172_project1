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Economica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Economica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Economica-italic.fntdata"/><Relationship Id="rId16" Type="http://schemas.openxmlformats.org/officeDocument/2006/relationships/slide" Target="slides/slide11.xml"/><Relationship Id="rId38" Type="http://schemas.openxmlformats.org/officeDocument/2006/relationships/font" Target="fonts/Economic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1e30548f2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1e30548f2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1e30548f2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1e30548f2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1e30548f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1e30548f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1e30548f2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1e30548f2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1e30548f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1e30548f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e30548f2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1e30548f2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1e30548f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1e30548f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1e30548f2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1e30548f2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1e30548f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1e30548f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1e30548f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1e30548f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1e30548f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1e30548f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1e30548f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1e30548f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1e30548f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1e30548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1e30548f2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1e30548f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1e30548f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1e30548f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e30548f2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e30548f2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e30548f2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1e30548f2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1e30548f2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1e30548f2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1e30548f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1e30548f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1e30548f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1e30548f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1e30548f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1e30548f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1e30548f2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1e30548f2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1e30548f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1e30548f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1e30548f2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1e30548f2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1e30548f2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1e30548f2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1e30548f2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1e30548f2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1e30548f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1e30548f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1e30548f2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1e30548f2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1e30548f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1e30548f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1e30548f2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81e30548f2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of Making The NCAA Tournament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Jaxon Hicks, Joseph Joswiak, Levi Sneller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2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Model Specification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Complete </a:t>
            </a:r>
            <a:r>
              <a:rPr lang="en"/>
              <a:t>Separation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Interpretations and Confidence Intervals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Hypothesis Testing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Meaningful </a:t>
            </a:r>
            <a:r>
              <a:rPr lang="en"/>
              <a:t>Insights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3165600" y="1970100"/>
            <a:ext cx="2812800" cy="12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Specification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Specification:</a:t>
            </a:r>
            <a:endParaRPr/>
          </a:p>
        </p:txBody>
      </p:sp>
      <p:pic>
        <p:nvPicPr>
          <p:cNvPr id="80" name="Google Shape;80;p16" title="Screenshot 2025-09-22 at 11.51.3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912" y="1225226"/>
            <a:ext cx="7342164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Specification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25225"/>
            <a:ext cx="8520600" cy="15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Bernoulli random component for binary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Logit link for </a:t>
            </a:r>
            <a:r>
              <a:rPr lang="en"/>
              <a:t>interpretable</a:t>
            </a:r>
            <a:r>
              <a:rPr lang="en"/>
              <a:t> results (odds ratios)</a:t>
            </a:r>
            <a:endParaRPr/>
          </a:p>
        </p:txBody>
      </p:sp>
      <p:pic>
        <p:nvPicPr>
          <p:cNvPr id="87" name="Google Shape;87;p17" title="Screenshot 2025-09-22 at 11.52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299" y="2571750"/>
            <a:ext cx="7213424" cy="18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Results: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45720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log(π/(1-π)) = 18.1658 – 0.1499(G</a:t>
            </a:r>
            <a:r>
              <a:rPr baseline="-25000" lang="en"/>
              <a:t>i</a:t>
            </a:r>
            <a:r>
              <a:rPr lang="en"/>
              <a:t>) + 0.3841(W</a:t>
            </a:r>
            <a:r>
              <a:rPr baseline="-25000" lang="en"/>
              <a:t>i</a:t>
            </a:r>
            <a:r>
              <a:rPr lang="en"/>
              <a:t>) + 0.8726(ADJOE</a:t>
            </a:r>
            <a:r>
              <a:rPr baseline="-25000" lang="en"/>
              <a:t>i</a:t>
            </a:r>
            <a:r>
              <a:rPr lang="en"/>
              <a:t>) - 0.8978(ADJDE</a:t>
            </a:r>
            <a:r>
              <a:rPr baseline="-25000" lang="en"/>
              <a:t>i</a:t>
            </a:r>
            <a:r>
              <a:rPr lang="en"/>
              <a:t>) – 32.8552(BARTHAG</a:t>
            </a:r>
            <a:r>
              <a:rPr baseline="-25000" lang="en"/>
              <a:t>i</a:t>
            </a:r>
            <a:r>
              <a:rPr lang="en"/>
              <a:t>) – 0.0668(EFG_O</a:t>
            </a:r>
            <a:r>
              <a:rPr baseline="-25000" lang="en"/>
              <a:t>i</a:t>
            </a:r>
            <a:r>
              <a:rPr lang="en"/>
              <a:t>) + 0.00628(EFG_D</a:t>
            </a:r>
            <a:r>
              <a:rPr baseline="-25000" lang="en"/>
              <a:t>i</a:t>
            </a:r>
            <a:r>
              <a:rPr lang="en"/>
              <a:t>) – 0.0135(ADJ_T</a:t>
            </a:r>
            <a:r>
              <a:rPr baseline="-25000" lang="en"/>
              <a:t>i</a:t>
            </a:r>
            <a:r>
              <a:rPr lang="en"/>
              <a:t>) + 0.1822(LM</a:t>
            </a:r>
            <a:r>
              <a:rPr baseline="-25000" lang="en"/>
              <a:t>i</a:t>
            </a:r>
            <a:r>
              <a:rPr lang="en"/>
              <a:t>) – 0.7858(MM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This model suffers from multicollinearity with BARTHAG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00" y="1361700"/>
            <a:ext cx="4260300" cy="3081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154200" y="1970100"/>
            <a:ext cx="2835600" cy="12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</a:t>
            </a:r>
            <a:r>
              <a:rPr lang="en"/>
              <a:t>Separation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</a:t>
            </a:r>
            <a:r>
              <a:rPr lang="en"/>
              <a:t>Separation</a:t>
            </a:r>
            <a:r>
              <a:rPr lang="en"/>
              <a:t> Investigation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4650625" y="1225225"/>
            <a:ext cx="4181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Pre Analysis</a:t>
            </a:r>
            <a:r>
              <a:rPr lang="en"/>
              <a:t>:  No zeros in the frequency table indicates lack of complete separation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Post Analysis</a:t>
            </a:r>
            <a:r>
              <a:rPr lang="en"/>
              <a:t>:  No standard errors are greater than 5, indicate no complete separation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20511" l="54166" r="22596" t="35044"/>
          <a:stretch/>
        </p:blipFill>
        <p:spPr>
          <a:xfrm>
            <a:off x="177600" y="1068013"/>
            <a:ext cx="3414050" cy="36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ctrTitle"/>
          </p:nvPr>
        </p:nvSpPr>
        <p:spPr>
          <a:xfrm>
            <a:off x="2929800" y="1970100"/>
            <a:ext cx="3284400" cy="12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Interpretations and Confidence Intervals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ADJOE: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Description: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ADJOE represents the adjusted offensive efficiency. This </a:t>
            </a:r>
            <a:r>
              <a:rPr lang="en"/>
              <a:t>coefficient</a:t>
            </a:r>
            <a:r>
              <a:rPr lang="en"/>
              <a:t> is measured by points scored per 100 </a:t>
            </a:r>
            <a:r>
              <a:rPr lang="en"/>
              <a:t>possessions.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β3 coefficient corresponding to ADJOE.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predicted β3-hat = .8726.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ADJOE: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Odds: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Holding all other factors constant, the odds of making the tournament increase by a factor of e^.8726=2.393 for each additional point scored in ADJOE. This means that for each additional point in a team's adjusted offensive efficiency, the odds of making the tournament more than doubles, suggesting that stronger offensive performance significantly boosts a team's chances of making the tournament.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Odds Ratio: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Holding all else constant, the odds of making the NCAA tournament increase by a factor of e^5*.8726=78.49 times with every increase of 5 in points scored per 100 possessions in adjusted offensive efficiency.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ADJOE: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Confidence Interval: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Holding all else constant, we are 95% confident that the odds of a team making the NCAA Tournament increase by a factor of e</a:t>
            </a:r>
            <a:r>
              <a:rPr baseline="30000" lang="en"/>
              <a:t>.7135</a:t>
            </a:r>
            <a:r>
              <a:rPr lang="en"/>
              <a:t>=2.04112 and e</a:t>
            </a:r>
            <a:r>
              <a:rPr baseline="30000" lang="en"/>
              <a:t>1.042</a:t>
            </a:r>
            <a:r>
              <a:rPr lang="en"/>
              <a:t>=2.83488 for each additional point scored per 100 possessions. Between (104.112% to 183.488%)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Holding all else constant, we are 95% confident that the odds of a team making the NCAA Tournament increase by a factor of e</a:t>
            </a:r>
            <a:r>
              <a:rPr baseline="30000" lang="en"/>
              <a:t>5*.7135</a:t>
            </a:r>
            <a:r>
              <a:rPr lang="en"/>
              <a:t>=32.4279 and e</a:t>
            </a:r>
            <a:r>
              <a:rPr baseline="30000" lang="en"/>
              <a:t>5*1.042</a:t>
            </a:r>
            <a:r>
              <a:rPr lang="en"/>
              <a:t>=183.094 for an increase of 5 points scored per 100 possessions. Between (3142.79% to 18209.4%)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Conf_Group: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Description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Conf_group represents the classification of the conference team i is in (either P5, MM, or LM).  With the initial observation of P5 being accounted for in the intercept estimate, the predicted low major β9-hat is 0.1822.  The predicted mid major β10-hat is -0.7858.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Conf_Group: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225225"/>
            <a:ext cx="4086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Odds of Making NCAA Tournament: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 Major: e</a:t>
            </a:r>
            <a:r>
              <a:rPr baseline="30000" lang="en"/>
              <a:t>0.1822 </a:t>
            </a:r>
            <a:r>
              <a:rPr lang="en"/>
              <a:t>= 1.1999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Mid Major: e</a:t>
            </a:r>
            <a:r>
              <a:rPr baseline="30000" lang="en"/>
              <a:t>-0.7858</a:t>
            </a:r>
            <a:r>
              <a:rPr lang="en"/>
              <a:t> = 0.4558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4745400" y="126000"/>
            <a:ext cx="4086900" cy="48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means that in comparison to the Power 5 conference teams, a team in a low major conference has roughly 20% greater odds to make the NCAA Tournament given </a:t>
            </a:r>
            <a:r>
              <a:rPr lang="en"/>
              <a:t>they</a:t>
            </a:r>
            <a:r>
              <a:rPr lang="en"/>
              <a:t> have the same resume (holding all other variables constant).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team in a mid major conference has only 0.45 odds to make the NCAA Tournament relative to a team in a Power 5 conference given they have resume.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Conf_Group: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Confidence Intervals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Given e</a:t>
            </a:r>
            <a:r>
              <a:rPr baseline="30000" lang="en"/>
              <a:t>-0.4140</a:t>
            </a:r>
            <a:r>
              <a:rPr lang="en"/>
              <a:t> = 0.660 and e</a:t>
            </a:r>
            <a:r>
              <a:rPr baseline="30000" lang="en"/>
              <a:t>0.7806</a:t>
            </a:r>
            <a:r>
              <a:rPr lang="en"/>
              <a:t> = 2.180 we are 95% confident that given a team is in a Low major conference, the odds of them making the NCAA Tournament compared to a team in a Power 5 conference is between (0.660,2.180) given they have the same resume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given e</a:t>
            </a:r>
            <a:r>
              <a:rPr baseline="30000" lang="en"/>
              <a:t>-1.2553</a:t>
            </a:r>
            <a:r>
              <a:rPr lang="en"/>
              <a:t> = 0.285 and e</a:t>
            </a:r>
            <a:r>
              <a:rPr baseline="30000" lang="en"/>
              <a:t>-0.3161</a:t>
            </a:r>
            <a:r>
              <a:rPr lang="en"/>
              <a:t> = 0.729 we are 95% confident that given a team is in a mid major conference, the true odds of them making the NCAA Tournament compared to a team in a Power 5 Conference is between (0.285,0.729).  This means I can say with 95% confidence that a team in a Power 5 conference has better odds to make the NCAA Tournament than a mid major team given they have the same resume.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Wins Variable: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</a:t>
            </a:r>
            <a:r>
              <a:rPr baseline="-25000" lang="en"/>
              <a:t>i</a:t>
            </a:r>
            <a:r>
              <a:rPr lang="en"/>
              <a:t> → represents the number of games won by team i.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β2 → coefficient corresponding to W</a:t>
            </a:r>
            <a:r>
              <a:rPr baseline="-25000" lang="en"/>
              <a:t>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β2-hat</a:t>
            </a:r>
            <a:r>
              <a:rPr lang="en"/>
              <a:t> = 0.3841.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Wins Interpretation: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225225"/>
            <a:ext cx="8520600" cy="3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Holding all other factors constant, the odds of a team making the NCAA tournament increase by a factor of e</a:t>
            </a:r>
            <a:r>
              <a:rPr baseline="30000" lang="en"/>
              <a:t>0.3841</a:t>
            </a:r>
            <a:r>
              <a:rPr lang="en"/>
              <a:t> = 1.4682922 for each one additional win a team has. In other words, the odds of making the tournament increase by about 46.83%.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Holding all other factors constant, the odds of a team making the NCAA tournament increase by a factor of e</a:t>
            </a:r>
            <a:r>
              <a:rPr baseline="30000" lang="en"/>
              <a:t>(2*0.3841)</a:t>
            </a:r>
            <a:r>
              <a:rPr lang="en"/>
              <a:t> =  2.155882 for every two additional wins a team has. In other words, the odds of making the tournament increase by about 115.59%.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Wins Confidence Interval: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225225"/>
            <a:ext cx="8520600" cy="3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are 95% confident that the odds of a team making the NCAA tournament increase by a factor between e</a:t>
            </a:r>
            <a:r>
              <a:rPr baseline="30000" lang="en"/>
              <a:t>0.3288</a:t>
            </a:r>
            <a:r>
              <a:rPr lang="en"/>
              <a:t> = 1.389300 and e</a:t>
            </a:r>
            <a:r>
              <a:rPr baseline="30000" lang="en"/>
              <a:t>0.4411</a:t>
            </a:r>
            <a:r>
              <a:rPr lang="en"/>
              <a:t> = 1.554416 for each additional win a team has, holding all other factors constant. (between 38.93% and 55.44%)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are 95% confident that the odds of a team making the NCAA tournament increase by a factor between e</a:t>
            </a:r>
            <a:r>
              <a:rPr baseline="30000" lang="en"/>
              <a:t>(2*0.3288)</a:t>
            </a:r>
            <a:r>
              <a:rPr lang="en"/>
              <a:t> = 1.930154 and e</a:t>
            </a:r>
            <a:r>
              <a:rPr baseline="30000" lang="en"/>
              <a:t>(2*0.4411)</a:t>
            </a:r>
            <a:r>
              <a:rPr lang="en"/>
              <a:t> = 2.416210 for every two additional wins a team has, holding all other factors constant. (between 93.02% to 141.62%)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ctrTitle"/>
          </p:nvPr>
        </p:nvSpPr>
        <p:spPr>
          <a:xfrm>
            <a:off x="3222150" y="1970100"/>
            <a:ext cx="2699700" cy="12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Testing: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Test of Model: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baseline="-25000" lang="en"/>
              <a:t>0</a:t>
            </a:r>
            <a:r>
              <a:rPr lang="en"/>
              <a:t>: </a:t>
            </a:r>
            <a:r>
              <a:rPr lang="en"/>
              <a:t>β1 = β2 = β3 = … = β10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baseline="-25000" lang="en"/>
              <a:t>a</a:t>
            </a:r>
            <a:r>
              <a:rPr lang="en"/>
              <a:t>: At least one </a:t>
            </a:r>
            <a:r>
              <a:rPr lang="en"/>
              <a:t>β</a:t>
            </a:r>
            <a:r>
              <a:rPr lang="en"/>
              <a:t> ≠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 statistic: 34.3045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Null Distribution: 𝝌</a:t>
            </a:r>
            <a:r>
              <a:rPr baseline="30000" lang="en"/>
              <a:t>2</a:t>
            </a:r>
            <a:r>
              <a:rPr lang="en"/>
              <a:t>(10)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P-Value: &lt;.0001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We reject H</a:t>
            </a:r>
            <a:r>
              <a:rPr baseline="-25000" lang="en"/>
              <a:t>0</a:t>
            </a:r>
            <a:r>
              <a:rPr lang="en"/>
              <a:t> in favor of H</a:t>
            </a:r>
            <a:r>
              <a:rPr baseline="-25000" lang="en"/>
              <a:t>a</a:t>
            </a:r>
            <a:r>
              <a:rPr lang="en"/>
              <a:t>at all reasonable levels of alpha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Testing:</a:t>
            </a:r>
            <a:endParaRPr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Test of Conf_group Variable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baseline="-25000" lang="en"/>
              <a:t>0</a:t>
            </a:r>
            <a:r>
              <a:rPr lang="en"/>
              <a:t>: </a:t>
            </a:r>
            <a:r>
              <a:rPr lang="en"/>
              <a:t>β9</a:t>
            </a:r>
            <a:r>
              <a:rPr lang="en"/>
              <a:t> = </a:t>
            </a:r>
            <a:r>
              <a:rPr lang="en"/>
              <a:t>β10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baseline="-25000" lang="en"/>
              <a:t>a</a:t>
            </a:r>
            <a:r>
              <a:rPr lang="en"/>
              <a:t>: At least one </a:t>
            </a:r>
            <a:r>
              <a:rPr lang="en"/>
              <a:t>β ≠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 statistic: 30.9934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Null Distribution: </a:t>
            </a:r>
            <a:r>
              <a:rPr lang="en"/>
              <a:t>𝝌</a:t>
            </a:r>
            <a:r>
              <a:rPr baseline="30000" lang="en"/>
              <a:t>2</a:t>
            </a:r>
            <a:r>
              <a:rPr lang="en"/>
              <a:t>(2)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P-Value: &lt;.0001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We reject H</a:t>
            </a:r>
            <a:r>
              <a:rPr baseline="-25000" lang="en"/>
              <a:t>0</a:t>
            </a:r>
            <a:r>
              <a:rPr lang="en"/>
              <a:t> in favor of H</a:t>
            </a:r>
            <a:r>
              <a:rPr baseline="-25000" lang="en"/>
              <a:t>a</a:t>
            </a:r>
            <a:r>
              <a:rPr lang="en"/>
              <a:t> at all reasonable levels of alpha.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Testing:</a:t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Test of ADJOE Variable: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baseline="-25000" lang="en"/>
              <a:t>0</a:t>
            </a:r>
            <a:r>
              <a:rPr lang="en"/>
              <a:t>: </a:t>
            </a:r>
            <a:r>
              <a:rPr lang="en"/>
              <a:t>β3</a:t>
            </a:r>
            <a:r>
              <a:rPr baseline="-25000" lang="en"/>
              <a:t> </a:t>
            </a:r>
            <a:r>
              <a:rPr lang="en"/>
              <a:t>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baseline="-25000" lang="en"/>
              <a:t>a</a:t>
            </a:r>
            <a:r>
              <a:rPr lang="en"/>
              <a:t>: </a:t>
            </a:r>
            <a:r>
              <a:rPr lang="en"/>
              <a:t>β3</a:t>
            </a:r>
            <a:r>
              <a:rPr baseline="-25000" lang="en"/>
              <a:t> </a:t>
            </a:r>
            <a:r>
              <a:rPr lang="en"/>
              <a:t>≠</a:t>
            </a:r>
            <a:r>
              <a:rPr baseline="-25000" lang="en"/>
              <a:t> </a:t>
            </a:r>
            <a:r>
              <a:rPr lang="en"/>
              <a:t>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 statistic: 108.5358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Null Distribution: </a:t>
            </a:r>
            <a:r>
              <a:rPr lang="en"/>
              <a:t>𝝌</a:t>
            </a:r>
            <a:r>
              <a:rPr baseline="30000" lang="en"/>
              <a:t>2</a:t>
            </a:r>
            <a:r>
              <a:rPr lang="en"/>
              <a:t>(1)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P-Value: &lt;.0001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We reject H</a:t>
            </a:r>
            <a:r>
              <a:rPr baseline="-25000" lang="en"/>
              <a:t>0</a:t>
            </a:r>
            <a:r>
              <a:rPr lang="en"/>
              <a:t> in favor of H</a:t>
            </a:r>
            <a:r>
              <a:rPr baseline="-25000" lang="en"/>
              <a:t>a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ctrTitle"/>
          </p:nvPr>
        </p:nvSpPr>
        <p:spPr>
          <a:xfrm>
            <a:off x="3080850" y="1970100"/>
            <a:ext cx="2982300" cy="12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 Insights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 Insight 1: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225225"/>
            <a:ext cx="8520600" cy="3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15"/>
              <a:t>Comparing two non-baseline levels of Conf_group odds of making the NCAA Tournament .</a:t>
            </a:r>
            <a:endParaRPr sz="61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1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1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1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1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1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1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115"/>
              <a:t>All else constant, the odds that a Low Major makes the NCAA Tournament are 2.632 times that a Mid Major makes the NCAA Tournament. This means the odds of a Low Major team making the NCAA Tournament are about 163.2% higher than the odds of a Mid Major Team making the NCAA Tournament.</a:t>
            </a:r>
            <a:endParaRPr sz="61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6" title="Screenshot 2025-09-22 at 12.09.3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25" y="2000025"/>
            <a:ext cx="3831675" cy="1394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 Insight 2: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</a:t>
            </a:r>
            <a:r>
              <a:rPr lang="en"/>
              <a:t>: How does a </a:t>
            </a:r>
            <a:r>
              <a:rPr lang="en"/>
              <a:t>team’s probability of making the NCAA tournament change when adjusting 1 variable, wins?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Consider a team with the following characteristics: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7" title="Screenshot 2025-09-23 at 4.48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950" y="2510825"/>
            <a:ext cx="1924725" cy="15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7" title="Screenshot 2025-09-23 at 4.48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275" y="2510825"/>
            <a:ext cx="1456700" cy="150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 Insight 2:</a:t>
            </a:r>
            <a:endParaRPr/>
          </a:p>
        </p:txBody>
      </p:sp>
      <p:sp>
        <p:nvSpPr>
          <p:cNvPr id="215" name="Google Shape;215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the probability of a team with the initial </a:t>
            </a:r>
            <a:r>
              <a:rPr lang="en"/>
              <a:t>statistics: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Probability of making the NCAA tournament is 0.829428%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8" title="Screenshot 2025-09-23 at 4.50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88" y="1938237"/>
            <a:ext cx="8389026" cy="12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 Insight 2:</a:t>
            </a:r>
            <a:endParaRPr/>
          </a:p>
        </p:txBody>
      </p:sp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311700" y="1225225"/>
            <a:ext cx="8520600" cy="3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wins increases by 1, holding all other variables constant?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Original W</a:t>
            </a:r>
            <a:r>
              <a:rPr baseline="-25000" lang="en"/>
              <a:t>i</a:t>
            </a:r>
            <a:r>
              <a:rPr lang="en"/>
              <a:t> =  22, now W</a:t>
            </a:r>
            <a:r>
              <a:rPr baseline="-25000" lang="en"/>
              <a:t>i</a:t>
            </a:r>
            <a:r>
              <a:rPr lang="en"/>
              <a:t> = 23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Probability increases from 0.829428% to 1.21313%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Instead, w</a:t>
            </a:r>
            <a:r>
              <a:rPr lang="en"/>
              <a:t>hat if wins increases by 5, holding all other variables constant?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Original W</a:t>
            </a:r>
            <a:r>
              <a:rPr baseline="-25000" lang="en"/>
              <a:t>i</a:t>
            </a:r>
            <a:r>
              <a:rPr lang="en"/>
              <a:t> =  22, now W</a:t>
            </a:r>
            <a:r>
              <a:rPr baseline="-25000" lang="en"/>
              <a:t>i</a:t>
            </a:r>
            <a:r>
              <a:rPr lang="en"/>
              <a:t> = 27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→ Probability increases from 0.829428% to 5.39948%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 Insight 3:</a:t>
            </a:r>
            <a:endParaRPr/>
          </a:p>
        </p:txBody>
      </p:sp>
      <p:sp>
        <p:nvSpPr>
          <p:cNvPr id="228" name="Google Shape;228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</a:t>
            </a:r>
            <a:r>
              <a:rPr lang="en"/>
              <a:t>: Given a team’s resume, what Adjusted Offensive Efficiency score would give them a 95% probability of making the NCAA Tournament?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</a:t>
            </a:r>
            <a:r>
              <a:rPr lang="en"/>
              <a:t> Insights 3:</a:t>
            </a:r>
            <a:endParaRPr/>
          </a:p>
        </p:txBody>
      </p:sp>
      <p:sp>
        <p:nvSpPr>
          <p:cNvPr id="234" name="Google Shape;234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G</a:t>
            </a:r>
            <a:r>
              <a:rPr baseline="-25000" lang="en" sz="1425"/>
              <a:t>i</a:t>
            </a:r>
            <a:r>
              <a:rPr lang="en" sz="1425"/>
              <a:t> = 30                                                                      Conference: Big 12 (P5)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W</a:t>
            </a:r>
            <a:r>
              <a:rPr baseline="-25000" lang="en" sz="1425"/>
              <a:t>i</a:t>
            </a:r>
            <a:r>
              <a:rPr lang="en" sz="1425"/>
              <a:t> = 23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ADJOE</a:t>
            </a:r>
            <a:r>
              <a:rPr baseline="-25000" lang="en" sz="1425"/>
              <a:t>i</a:t>
            </a:r>
            <a:r>
              <a:rPr lang="en" sz="1425"/>
              <a:t> = x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ADJDE</a:t>
            </a:r>
            <a:r>
              <a:rPr baseline="-25000" lang="en" sz="1425"/>
              <a:t>i</a:t>
            </a:r>
            <a:r>
              <a:rPr lang="en" sz="1425"/>
              <a:t> = 105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BARTHAG</a:t>
            </a:r>
            <a:r>
              <a:rPr baseline="-25000" lang="en" sz="1425"/>
              <a:t>i</a:t>
            </a:r>
            <a:r>
              <a:rPr lang="en" sz="1425"/>
              <a:t> = 0.75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EFG_O</a:t>
            </a:r>
            <a:r>
              <a:rPr baseline="-25000" lang="en" sz="1425"/>
              <a:t>i</a:t>
            </a:r>
            <a:r>
              <a:rPr lang="en" sz="1425"/>
              <a:t> = 51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EFG_D</a:t>
            </a:r>
            <a:r>
              <a:rPr baseline="-25000" lang="en" sz="1425"/>
              <a:t>i</a:t>
            </a:r>
            <a:r>
              <a:rPr lang="en" sz="1425"/>
              <a:t> = 53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ADJ_T</a:t>
            </a:r>
            <a:r>
              <a:rPr baseline="-25000" lang="en" sz="1425"/>
              <a:t>i</a:t>
            </a:r>
            <a:r>
              <a:rPr lang="en" sz="1425"/>
              <a:t> = 67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25"/>
              <a:t>	LM</a:t>
            </a:r>
            <a:r>
              <a:rPr baseline="-25000" lang="en" sz="1425"/>
              <a:t>i</a:t>
            </a:r>
            <a:r>
              <a:rPr lang="en" sz="1425"/>
              <a:t> = 0</a:t>
            </a:r>
            <a:endParaRPr sz="142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425"/>
              <a:t>	MM</a:t>
            </a:r>
            <a:r>
              <a:rPr baseline="-25000" lang="en" sz="1425"/>
              <a:t>i</a:t>
            </a:r>
            <a:r>
              <a:rPr lang="en" sz="1425"/>
              <a:t> = 0</a:t>
            </a:r>
            <a:endParaRPr sz="1425"/>
          </a:p>
        </p:txBody>
      </p:sp>
      <p:pic>
        <p:nvPicPr>
          <p:cNvPr descr="a red and yellow tornado with a bird on top (Provided by Tenor)" id="235" name="Google Shape;23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975" y="1986797"/>
            <a:ext cx="359312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 Insights 3:</a:t>
            </a:r>
            <a:endParaRPr/>
          </a:p>
        </p:txBody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0.95 = e</a:t>
            </a:r>
            <a:r>
              <a:rPr baseline="30000" lang="en"/>
              <a:t>z</a:t>
            </a:r>
            <a:r>
              <a:rPr lang="en"/>
              <a:t>/1+e</a:t>
            </a:r>
            <a:r>
              <a:rPr baseline="30000" lang="en"/>
              <a:t>z</a:t>
            </a:r>
            <a:endParaRPr baseline="30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Where z = 18.1658 − 0.1499(30) + 0.3841(23) + 0.8726(x) − 0.8978(105) − 32.8552(0.75) − 0.0668(51) + 0.00628(53) − 0.0135(67) + 0.1822(0) − 0.7858(0)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0.95 = e</a:t>
            </a:r>
            <a:r>
              <a:rPr baseline="30000" lang="en"/>
              <a:t>(-110.39 + 0.8726(x))</a:t>
            </a:r>
            <a:r>
              <a:rPr lang="en"/>
              <a:t> / 1+e</a:t>
            </a:r>
            <a:r>
              <a:rPr baseline="30000" lang="en"/>
              <a:t>(-110.39 + 0.8726(x)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x = 118.44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Solving for x, we determine that when a team has the above resume and is in a Power 5 conference, an adjusted offensive efficiency score of </a:t>
            </a:r>
            <a:r>
              <a:rPr b="1" lang="en"/>
              <a:t>118.44</a:t>
            </a:r>
            <a:r>
              <a:rPr lang="en"/>
              <a:t> gives them a 95% probability of making the postseason.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ctrTitle"/>
          </p:nvPr>
        </p:nvSpPr>
        <p:spPr>
          <a:xfrm>
            <a:off x="3080850" y="1662600"/>
            <a:ext cx="2982300" cy="18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